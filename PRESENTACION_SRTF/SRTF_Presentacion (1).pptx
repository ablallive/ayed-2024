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12192000"/>
  <p:embeddedFontLst>
    <p:embeddedFont>
      <p:font typeface="Montserrat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4239A8-674F-478D-BFEE-9A855FB49194}">
  <a:tblStyle styleId="{E84239A8-674F-478D-BFEE-9A855FB4919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ontserrat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Lato-regular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f04cc3f348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f04cc3f348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g3f04cc3f348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f1e7756ff5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f1e7756ff5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g3f1e7756ff5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f1e7756ff5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f1e7756ff5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g3f1e7756ff5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f1e7756ff5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f1e7756ff5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g3f1e7756ff5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f1e7756ff5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f1e7756ff5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g3f1e7756ff5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 rot="5400000">
            <a:off x="10000500" y="673"/>
            <a:ext cx="2191500" cy="21915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0" y="654"/>
            <a:ext cx="6871435" cy="6845694"/>
            <a:chOff x="0" y="75"/>
            <a:chExt cx="5153705" cy="5152950"/>
          </a:xfrm>
        </p:grpSpPr>
        <p:sp>
          <p:nvSpPr>
            <p:cNvPr id="16" name="Google Shape;16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" name="Google Shape;20;p2"/>
          <p:cNvSpPr txBox="1"/>
          <p:nvPr>
            <p:ph type="ctrTitle"/>
          </p:nvPr>
        </p:nvSpPr>
        <p:spPr>
          <a:xfrm>
            <a:off x="4716200" y="2104533"/>
            <a:ext cx="6690000" cy="210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6778600" y="5233233"/>
            <a:ext cx="4627500" cy="67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3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25" name="Google Shape;25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" name="Google Shape;43;p3"/>
          <p:cNvSpPr txBox="1"/>
          <p:nvPr>
            <p:ph type="title"/>
          </p:nvPr>
        </p:nvSpPr>
        <p:spPr>
          <a:xfrm>
            <a:off x="1098467" y="2737333"/>
            <a:ext cx="6116100" cy="1531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4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47" name="Google Shape;47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4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0" name="Google Shape;50;p4"/>
          <p:cNvSpPr txBox="1"/>
          <p:nvPr>
            <p:ph idx="1" type="body"/>
          </p:nvPr>
        </p:nvSpPr>
        <p:spPr>
          <a:xfrm>
            <a:off x="1730000" y="2090067"/>
            <a:ext cx="93852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1" name="Google Shape;51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5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4" name="Google Shape;54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" name="Google Shape;56;p5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7" name="Google Shape;57;p5"/>
          <p:cNvSpPr txBox="1"/>
          <p:nvPr>
            <p:ph idx="1" type="body"/>
          </p:nvPr>
        </p:nvSpPr>
        <p:spPr>
          <a:xfrm>
            <a:off x="1730000" y="2090067"/>
            <a:ext cx="45375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2" type="body"/>
          </p:nvPr>
        </p:nvSpPr>
        <p:spPr>
          <a:xfrm>
            <a:off x="6577628" y="2090067"/>
            <a:ext cx="45375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9" name="Google Shape;59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6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62" name="Google Shape;62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" name="Google Shape;64;p6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5" name="Google Shape;65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7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68" name="Google Shape;68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p7"/>
          <p:cNvSpPr txBox="1"/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71" name="Google Shape;71;p7"/>
          <p:cNvSpPr txBox="1"/>
          <p:nvPr>
            <p:ph idx="1" type="body"/>
          </p:nvPr>
        </p:nvSpPr>
        <p:spPr>
          <a:xfrm>
            <a:off x="1730000" y="2630067"/>
            <a:ext cx="5065200" cy="3221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8"/>
          <p:cNvGrpSpPr/>
          <p:nvPr/>
        </p:nvGrpSpPr>
        <p:grpSpPr>
          <a:xfrm>
            <a:off x="5875053" y="0"/>
            <a:ext cx="6316642" cy="6857829"/>
            <a:chOff x="4406400" y="0"/>
            <a:chExt cx="4737600" cy="5143500"/>
          </a:xfrm>
        </p:grpSpPr>
        <p:sp>
          <p:nvSpPr>
            <p:cNvPr id="75" name="Google Shape;75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098467" y="1155700"/>
            <a:ext cx="6116100" cy="469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9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97" name="Google Shape;97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9"/>
          <p:cNvSpPr txBox="1"/>
          <p:nvPr>
            <p:ph type="title"/>
          </p:nvPr>
        </p:nvSpPr>
        <p:spPr>
          <a:xfrm>
            <a:off x="1730000" y="2211100"/>
            <a:ext cx="4048500" cy="2335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1730000" y="4717333"/>
            <a:ext cx="4048500" cy="67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6197600" y="2262133"/>
            <a:ext cx="4902300" cy="3129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0"/>
          <p:cNvGrpSpPr/>
          <p:nvPr/>
        </p:nvGrpSpPr>
        <p:grpSpPr>
          <a:xfrm>
            <a:off x="0" y="5504636"/>
            <a:ext cx="931877" cy="912853"/>
            <a:chOff x="0" y="3785672"/>
            <a:chExt cx="698925" cy="684657"/>
          </a:xfrm>
        </p:grpSpPr>
        <p:sp>
          <p:nvSpPr>
            <p:cNvPr id="105" name="Google Shape;105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1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1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1083633" y="5740500"/>
            <a:ext cx="9248100" cy="69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1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111" name="Google Shape;111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11"/>
          <p:cNvSpPr txBox="1"/>
          <p:nvPr>
            <p:ph hasCustomPrompt="1" type="title"/>
          </p:nvPr>
        </p:nvSpPr>
        <p:spPr>
          <a:xfrm>
            <a:off x="1098467" y="1712900"/>
            <a:ext cx="63681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>
            <a:r>
              <a:t>xx%</a:t>
            </a:r>
          </a:p>
        </p:txBody>
      </p:sp>
      <p:sp>
        <p:nvSpPr>
          <p:cNvPr id="130" name="Google Shape;130;p11"/>
          <p:cNvSpPr txBox="1"/>
          <p:nvPr>
            <p:ph idx="1" type="body"/>
          </p:nvPr>
        </p:nvSpPr>
        <p:spPr>
          <a:xfrm>
            <a:off x="1098467" y="3524166"/>
            <a:ext cx="6368100" cy="162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31" name="Google Shape;131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  <a:defRPr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3.png"/><Relationship Id="rId4" Type="http://schemas.openxmlformats.org/officeDocument/2006/relationships/image" Target="../media/image38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7" Type="http://schemas.openxmlformats.org/officeDocument/2006/relationships/image" Target="../media/image3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38.png"/><Relationship Id="rId6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36.png"/><Relationship Id="rId6" Type="http://schemas.openxmlformats.org/officeDocument/2006/relationships/image" Target="../media/image3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image" Target="../media/image23.png"/><Relationship Id="rId5" Type="http://schemas.openxmlformats.org/officeDocument/2006/relationships/image" Target="../media/image21.png"/><Relationship Id="rId6" Type="http://schemas.openxmlformats.org/officeDocument/2006/relationships/image" Target="../media/image3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72A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/>
          <p:nvPr/>
        </p:nvSpPr>
        <p:spPr>
          <a:xfrm>
            <a:off x="8534095" y="-2011680"/>
            <a:ext cx="6400800" cy="6400800"/>
          </a:xfrm>
          <a:prstGeom prst="ellipse">
            <a:avLst/>
          </a:prstGeom>
          <a:solidFill>
            <a:srgbClr val="1B26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4"/>
          <p:cNvSpPr/>
          <p:nvPr/>
        </p:nvSpPr>
        <p:spPr>
          <a:xfrm>
            <a:off x="10088575" y="-640080"/>
            <a:ext cx="3657600" cy="3657600"/>
          </a:xfrm>
          <a:prstGeom prst="ellipse">
            <a:avLst/>
          </a:prstGeom>
          <a:solidFill>
            <a:srgbClr val="2431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4"/>
          <p:cNvSpPr/>
          <p:nvPr/>
        </p:nvSpPr>
        <p:spPr>
          <a:xfrm>
            <a:off x="822960" y="731520"/>
            <a:ext cx="777240" cy="777240"/>
          </a:xfrm>
          <a:prstGeom prst="ellipse">
            <a:avLst/>
          </a:prstGeom>
          <a:solidFill>
            <a:srgbClr val="1B26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3" name="Google Shape;14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2815" y="941375"/>
            <a:ext cx="357530" cy="35753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/>
          <p:nvPr/>
        </p:nvSpPr>
        <p:spPr>
          <a:xfrm>
            <a:off x="841248" y="23317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0C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E0C0"/>
                </a:solidFill>
                <a:latin typeface="Calibri"/>
                <a:ea typeface="Calibri"/>
                <a:cs typeface="Calibri"/>
                <a:sym typeface="Calibri"/>
              </a:rPr>
              <a:t>ALGORITMOS DE PLANIFICACIÓN DE CPU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777240" y="2651760"/>
            <a:ext cx="8229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400"/>
              <a:buFont typeface="Cambria"/>
              <a:buNone/>
            </a:pPr>
            <a:r>
              <a:rPr b="1" i="0" lang="en-US" sz="8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SRTF</a:t>
            </a:r>
            <a:endParaRPr b="0" i="0" sz="8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841248" y="416052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D7E6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D3D7E6"/>
                </a:solidFill>
                <a:latin typeface="Calibri"/>
                <a:ea typeface="Calibri"/>
                <a:cs typeface="Calibri"/>
                <a:sym typeface="Calibri"/>
              </a:rPr>
              <a:t>Shortest Remaining Time First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841248" y="461772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1A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8891A8"/>
                </a:solidFill>
                <a:latin typeface="Calibri"/>
                <a:ea typeface="Calibri"/>
                <a:cs typeface="Calibri"/>
                <a:sym typeface="Calibri"/>
              </a:rPr>
              <a:t>Tiempo Restante Más Corto Primero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72A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0C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E0C0"/>
                </a:solidFill>
                <a:latin typeface="Calibri"/>
                <a:ea typeface="Calibri"/>
                <a:cs typeface="Calibri"/>
                <a:sym typeface="Calibri"/>
              </a:rPr>
              <a:t>CONCEPTOS FUNDAMENTALES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621792" y="713232"/>
            <a:ext cx="1091153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¿Qué es SRTF?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621792" y="1783080"/>
            <a:ext cx="5212080" cy="4160520"/>
          </a:xfrm>
          <a:prstGeom prst="roundRect">
            <a:avLst>
              <a:gd fmla="val 1978" name="adj"/>
            </a:avLst>
          </a:prstGeom>
          <a:solidFill>
            <a:srgbClr val="1B2640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5"/>
          <p:cNvSpPr/>
          <p:nvPr/>
        </p:nvSpPr>
        <p:spPr>
          <a:xfrm>
            <a:off x="914400" y="2075688"/>
            <a:ext cx="566928" cy="566928"/>
          </a:xfrm>
          <a:prstGeom prst="ellipse">
            <a:avLst/>
          </a:prstGeom>
          <a:solidFill>
            <a:srgbClr val="153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7" name="Google Shape;15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7471" y="2228759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5"/>
          <p:cNvSpPr/>
          <p:nvPr/>
        </p:nvSpPr>
        <p:spPr>
          <a:xfrm>
            <a:off x="1627632" y="210312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Definición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914400" y="2788920"/>
            <a:ext cx="4617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Algoritmo de planificación de CPU </a:t>
            </a:r>
            <a:r>
              <a:rPr b="1" i="0" lang="en-US" sz="140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utilizado por los sistemas operativos </a:t>
            </a:r>
            <a:r>
              <a:rPr b="0" i="0" lang="en-US" sz="140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para decidir qué proceso ejecutar a continuación.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914400" y="3703320"/>
            <a:ext cx="4617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0C0"/>
              </a:buClr>
              <a:buSzPts val="1550"/>
              <a:buFont typeface="Cambria"/>
              <a:buNone/>
            </a:pPr>
            <a:r>
              <a:rPr b="0" i="1" lang="en-US" sz="1550" u="none" cap="none" strike="noStrike">
                <a:solidFill>
                  <a:srgbClr val="00E0C0"/>
                </a:solidFill>
                <a:latin typeface="Cambria"/>
                <a:ea typeface="Cambria"/>
                <a:cs typeface="Cambria"/>
                <a:sym typeface="Cambria"/>
              </a:rPr>
              <a:t>"Siempre ejecuta el proceso que esté más cerca de terminar."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15"/>
          <p:cNvCxnSpPr/>
          <p:nvPr/>
        </p:nvCxnSpPr>
        <p:spPr>
          <a:xfrm>
            <a:off x="914400" y="4663440"/>
            <a:ext cx="4617720" cy="0"/>
          </a:xfrm>
          <a:prstGeom prst="straightConnector1">
            <a:avLst/>
          </a:prstGeom>
          <a:noFill/>
          <a:ln cap="flat" cmpd="sng" w="12700">
            <a:solidFill>
              <a:srgbClr val="3240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15"/>
          <p:cNvSpPr/>
          <p:nvPr/>
        </p:nvSpPr>
        <p:spPr>
          <a:xfrm>
            <a:off x="914400" y="4846320"/>
            <a:ext cx="4617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Da prioridad al proceso que necesita menos tiempo para terminar, reduciendo el tiempo promedio de espera y de retorno.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6053328" y="1783080"/>
            <a:ext cx="5532120" cy="1133856"/>
          </a:xfrm>
          <a:prstGeom prst="roundRect">
            <a:avLst>
              <a:gd fmla="val 7258" name="adj"/>
            </a:avLst>
          </a:prstGeom>
          <a:solidFill>
            <a:srgbClr val="1B2640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5"/>
          <p:cNvSpPr/>
          <p:nvPr/>
        </p:nvSpPr>
        <p:spPr>
          <a:xfrm>
            <a:off x="6309360" y="2066544"/>
            <a:ext cx="566928" cy="566928"/>
          </a:xfrm>
          <a:prstGeom prst="ellipse">
            <a:avLst/>
          </a:prstGeom>
          <a:solidFill>
            <a:srgbClr val="153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5" name="Google Shape;16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2431" y="2219615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5"/>
          <p:cNvSpPr/>
          <p:nvPr/>
        </p:nvSpPr>
        <p:spPr>
          <a:xfrm>
            <a:off x="7114032" y="1947672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Planificador de CPU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7114032" y="2313432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Decide el orden de ejecución de los procesos.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6053328" y="3081528"/>
            <a:ext cx="5532120" cy="1133856"/>
          </a:xfrm>
          <a:prstGeom prst="roundRect">
            <a:avLst>
              <a:gd fmla="val 7258" name="adj"/>
            </a:avLst>
          </a:prstGeom>
          <a:solidFill>
            <a:srgbClr val="1B2640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5"/>
          <p:cNvSpPr/>
          <p:nvPr/>
        </p:nvSpPr>
        <p:spPr>
          <a:xfrm>
            <a:off x="6309360" y="3364992"/>
            <a:ext cx="566928" cy="566928"/>
          </a:xfrm>
          <a:prstGeom prst="ellipse">
            <a:avLst/>
          </a:prstGeom>
          <a:solidFill>
            <a:srgbClr val="153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0" name="Google Shape;17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62431" y="3518063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5"/>
          <p:cNvSpPr/>
          <p:nvPr/>
        </p:nvSpPr>
        <p:spPr>
          <a:xfrm>
            <a:off x="7114032" y="324612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Versión apropiativa de SJF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7114032" y="3611880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Puede interrumpir un proceso en ejecución.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6053328" y="4379976"/>
            <a:ext cx="5532120" cy="1133856"/>
          </a:xfrm>
          <a:prstGeom prst="roundRect">
            <a:avLst>
              <a:gd fmla="val 7258" name="adj"/>
            </a:avLst>
          </a:prstGeom>
          <a:solidFill>
            <a:srgbClr val="1B2640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5"/>
          <p:cNvSpPr/>
          <p:nvPr/>
        </p:nvSpPr>
        <p:spPr>
          <a:xfrm>
            <a:off x="6309360" y="4663440"/>
            <a:ext cx="566928" cy="566928"/>
          </a:xfrm>
          <a:prstGeom prst="ellipse">
            <a:avLst/>
          </a:prstGeom>
          <a:solidFill>
            <a:srgbClr val="153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5" name="Google Shape;17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62431" y="481651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5"/>
          <p:cNvSpPr/>
          <p:nvPr/>
        </p:nvSpPr>
        <p:spPr>
          <a:xfrm>
            <a:off x="7114032" y="4544568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Objetivo principal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7114032" y="4910328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Minimizar espera y retorno priorizando lo más corto.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8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7896"/>
                </a:solidFill>
                <a:latin typeface="Calibri"/>
                <a:ea typeface="Calibri"/>
                <a:cs typeface="Calibri"/>
                <a:sym typeface="Calibri"/>
              </a:rPr>
              <a:t>SRTF  ·  Planificación de CPU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72A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0C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E0C0"/>
                </a:solidFill>
                <a:latin typeface="Calibri"/>
                <a:ea typeface="Calibri"/>
                <a:cs typeface="Calibri"/>
                <a:sym typeface="Calibri"/>
              </a:rPr>
              <a:t>FUNCIONAMIENTO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621792" y="713232"/>
            <a:ext cx="1091153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¿Cómo funciona SRTF?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Cada vez que ocurre un evento, el sistema operativo reevalúa qué proceso debe ejecutarse.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640080" y="2331720"/>
            <a:ext cx="3246120" cy="2468880"/>
          </a:xfrm>
          <a:prstGeom prst="roundRect">
            <a:avLst>
              <a:gd fmla="val 3333" name="adj"/>
            </a:avLst>
          </a:prstGeom>
          <a:solidFill>
            <a:srgbClr val="1B2640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6"/>
          <p:cNvSpPr/>
          <p:nvPr/>
        </p:nvSpPr>
        <p:spPr>
          <a:xfrm>
            <a:off x="960120" y="2651760"/>
            <a:ext cx="685800" cy="685800"/>
          </a:xfrm>
          <a:prstGeom prst="ellipse">
            <a:avLst/>
          </a:prstGeom>
          <a:solidFill>
            <a:srgbClr val="153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9" name="Google Shape;18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5286" y="2836926"/>
            <a:ext cx="315468" cy="31546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6"/>
          <p:cNvSpPr/>
          <p:nvPr/>
        </p:nvSpPr>
        <p:spPr>
          <a:xfrm>
            <a:off x="932688" y="352044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1. Ocurre un evento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6"/>
          <p:cNvSpPr/>
          <p:nvPr/>
        </p:nvSpPr>
        <p:spPr>
          <a:xfrm>
            <a:off x="932688" y="3995928"/>
            <a:ext cx="2697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Llega un nuevo proceso o termina uno en ejecución.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2" name="Google Shape;19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41064" y="3401568"/>
            <a:ext cx="292608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6"/>
          <p:cNvSpPr/>
          <p:nvPr/>
        </p:nvSpPr>
        <p:spPr>
          <a:xfrm>
            <a:off x="4279392" y="2331720"/>
            <a:ext cx="3246120" cy="2468880"/>
          </a:xfrm>
          <a:prstGeom prst="roundRect">
            <a:avLst>
              <a:gd fmla="val 3333" name="adj"/>
            </a:avLst>
          </a:prstGeom>
          <a:solidFill>
            <a:srgbClr val="1B2640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6"/>
          <p:cNvSpPr/>
          <p:nvPr/>
        </p:nvSpPr>
        <p:spPr>
          <a:xfrm>
            <a:off x="4599432" y="2651760"/>
            <a:ext cx="685800" cy="685800"/>
          </a:xfrm>
          <a:prstGeom prst="ellipse">
            <a:avLst/>
          </a:prstGeom>
          <a:solidFill>
            <a:srgbClr val="153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5" name="Google Shape;19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4598" y="2836926"/>
            <a:ext cx="315468" cy="31546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6"/>
          <p:cNvSpPr/>
          <p:nvPr/>
        </p:nvSpPr>
        <p:spPr>
          <a:xfrm>
            <a:off x="4572000" y="352044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2. Se comparan tiempos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/>
          <p:nvPr/>
        </p:nvSpPr>
        <p:spPr>
          <a:xfrm>
            <a:off x="4572000" y="3995928"/>
            <a:ext cx="2697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El SO compara el tiempo restante de todos los procesos disponibles.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8" name="Google Shape;19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0376" y="3401568"/>
            <a:ext cx="292608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6"/>
          <p:cNvSpPr/>
          <p:nvPr/>
        </p:nvSpPr>
        <p:spPr>
          <a:xfrm>
            <a:off x="7918704" y="2331720"/>
            <a:ext cx="3246120" cy="2468880"/>
          </a:xfrm>
          <a:prstGeom prst="roundRect">
            <a:avLst>
              <a:gd fmla="val 3333" name="adj"/>
            </a:avLst>
          </a:prstGeom>
          <a:solidFill>
            <a:srgbClr val="1B2640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6"/>
          <p:cNvSpPr/>
          <p:nvPr/>
        </p:nvSpPr>
        <p:spPr>
          <a:xfrm>
            <a:off x="8238744" y="2651760"/>
            <a:ext cx="685800" cy="685800"/>
          </a:xfrm>
          <a:prstGeom prst="ellipse">
            <a:avLst/>
          </a:prstGeom>
          <a:solidFill>
            <a:srgbClr val="153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1" name="Google Shape;20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23910" y="2836926"/>
            <a:ext cx="315468" cy="315468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6"/>
          <p:cNvSpPr/>
          <p:nvPr/>
        </p:nvSpPr>
        <p:spPr>
          <a:xfrm>
            <a:off x="8211312" y="352044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3. Se elige el más corto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6"/>
          <p:cNvSpPr/>
          <p:nvPr/>
        </p:nvSpPr>
        <p:spPr>
          <a:xfrm>
            <a:off x="8211312" y="3995928"/>
            <a:ext cx="2697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Se ejecuta el de menor tiempo restante; si cambia, hay un cambio de contexto (context switch).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6"/>
          <p:cNvSpPr/>
          <p:nvPr/>
        </p:nvSpPr>
        <p:spPr>
          <a:xfrm>
            <a:off x="640080" y="5074920"/>
            <a:ext cx="10911535" cy="868680"/>
          </a:xfrm>
          <a:prstGeom prst="roundRect">
            <a:avLst>
              <a:gd fmla="val 9474" name="adj"/>
            </a:avLst>
          </a:prstGeom>
          <a:solidFill>
            <a:srgbClr val="243154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6"/>
          <p:cNvSpPr/>
          <p:nvPr/>
        </p:nvSpPr>
        <p:spPr>
          <a:xfrm>
            <a:off x="914400" y="5285232"/>
            <a:ext cx="457200" cy="457200"/>
          </a:xfrm>
          <a:prstGeom prst="ellipse">
            <a:avLst/>
          </a:prstGeom>
          <a:solidFill>
            <a:srgbClr val="1B26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6" name="Google Shape;20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7844" y="5408676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6"/>
          <p:cNvSpPr/>
          <p:nvPr/>
        </p:nvSpPr>
        <p:spPr>
          <a:xfrm>
            <a:off x="1554480" y="5074920"/>
            <a:ext cx="981425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1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"Siempre ejecuta el proceso que esté más cerca de terminar."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8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7896"/>
                </a:solidFill>
                <a:latin typeface="Calibri"/>
                <a:ea typeface="Calibri"/>
                <a:cs typeface="Calibri"/>
                <a:sym typeface="Calibri"/>
              </a:rPr>
              <a:t>SRTF  ·  Planificación de CPU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72A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0C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E0C0"/>
                </a:solidFill>
                <a:latin typeface="Calibri"/>
                <a:ea typeface="Calibri"/>
                <a:cs typeface="Calibri"/>
                <a:sym typeface="Calibri"/>
              </a:rPr>
              <a:t>CONCEPTO CLAVE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621792" y="713232"/>
            <a:ext cx="1091153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¿Qué significa que sea "</a:t>
            </a: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preemptive</a:t>
            </a: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"?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Un algoritmo </a:t>
            </a:r>
            <a:r>
              <a:rPr b="1" i="0" lang="en-US" sz="1500" u="none" cap="none" strike="noStrike">
                <a:solidFill>
                  <a:srgbClr val="00E0C0"/>
                </a:solidFill>
                <a:latin typeface="Calibri"/>
                <a:ea typeface="Calibri"/>
                <a:cs typeface="Calibri"/>
                <a:sym typeface="Calibri"/>
              </a:rPr>
              <a:t>apropiativo (preemptive) </a:t>
            </a:r>
            <a:r>
              <a:rPr b="0" i="0" lang="en-US" sz="150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puede interrumpir un proceso en ejecución cuando llega uno nuevo con una ráfaga de CPU menor al tiempo restante del proceso actual.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/>
          <p:nvPr/>
        </p:nvSpPr>
        <p:spPr>
          <a:xfrm>
            <a:off x="640080" y="2468880"/>
            <a:ext cx="5272888" cy="3749040"/>
          </a:xfrm>
          <a:prstGeom prst="roundRect">
            <a:avLst>
              <a:gd fmla="val 2195" name="adj"/>
            </a:avLst>
          </a:prstGeom>
          <a:solidFill>
            <a:srgbClr val="1B2640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7"/>
          <p:cNvSpPr/>
          <p:nvPr/>
        </p:nvSpPr>
        <p:spPr>
          <a:xfrm>
            <a:off x="868680" y="2697480"/>
            <a:ext cx="48156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SIN PREEMPTION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868680" y="3017520"/>
            <a:ext cx="48156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FCFS / SJF no apropiativo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"/>
          <p:cNvSpPr/>
          <p:nvPr/>
        </p:nvSpPr>
        <p:spPr>
          <a:xfrm>
            <a:off x="868680" y="3840480"/>
            <a:ext cx="4815688" cy="548640"/>
          </a:xfrm>
          <a:prstGeom prst="roundRect">
            <a:avLst>
              <a:gd fmla="val 10000" name="adj"/>
            </a:avLst>
          </a:prstGeom>
          <a:solidFill>
            <a:srgbClr val="2A35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868680" y="3840480"/>
            <a:ext cx="48156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2F4FA"/>
                </a:solidFill>
                <a:latin typeface="Calibri"/>
                <a:ea typeface="Calibri"/>
                <a:cs typeface="Calibri"/>
                <a:sym typeface="Calibri"/>
              </a:rPr>
              <a:t>P1 — se ejecuta sin interrupción (8 ms)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868680" y="4617720"/>
            <a:ext cx="481568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P2 (3 ms) debe esperar a que P1 termine, aunque sea mucho más corto.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6278728" y="2468880"/>
            <a:ext cx="5272888" cy="3749040"/>
          </a:xfrm>
          <a:prstGeom prst="roundRect">
            <a:avLst>
              <a:gd fmla="val 2195" name="adj"/>
            </a:avLst>
          </a:prstGeom>
          <a:solidFill>
            <a:srgbClr val="243154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7"/>
          <p:cNvSpPr/>
          <p:nvPr/>
        </p:nvSpPr>
        <p:spPr>
          <a:xfrm>
            <a:off x="6507328" y="2697480"/>
            <a:ext cx="48156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0C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E0C0"/>
                </a:solidFill>
                <a:latin typeface="Calibri"/>
                <a:ea typeface="Calibri"/>
                <a:cs typeface="Calibri"/>
                <a:sym typeface="Calibri"/>
              </a:rPr>
              <a:t>CON PREEMPTION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6507328" y="3017520"/>
            <a:ext cx="48156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SRTF (apropiativo)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7"/>
          <p:cNvSpPr/>
          <p:nvPr/>
        </p:nvSpPr>
        <p:spPr>
          <a:xfrm>
            <a:off x="6507328" y="3840480"/>
            <a:ext cx="1444706" cy="548640"/>
          </a:xfrm>
          <a:prstGeom prst="roundRect">
            <a:avLst>
              <a:gd fmla="val 10000" name="adj"/>
            </a:avLst>
          </a:prstGeom>
          <a:solidFill>
            <a:srgbClr val="00E0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7"/>
          <p:cNvSpPr/>
          <p:nvPr/>
        </p:nvSpPr>
        <p:spPr>
          <a:xfrm>
            <a:off x="6507328" y="3840480"/>
            <a:ext cx="144470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172A"/>
                </a:solidFill>
                <a:latin typeface="Calibri"/>
                <a:ea typeface="Calibri"/>
                <a:cs typeface="Calibri"/>
                <a:sym typeface="Calibri"/>
              </a:rPr>
              <a:t>P1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172A"/>
                </a:solidFill>
                <a:latin typeface="Calibri"/>
                <a:ea typeface="Calibri"/>
                <a:cs typeface="Calibri"/>
                <a:sym typeface="Calibri"/>
              </a:rPr>
              <a:t>(8→7)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8025186" y="3840480"/>
            <a:ext cx="3297829" cy="5486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7"/>
          <p:cNvSpPr/>
          <p:nvPr/>
        </p:nvSpPr>
        <p:spPr>
          <a:xfrm>
            <a:off x="8025186" y="3840480"/>
            <a:ext cx="329782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7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0172A"/>
                </a:solidFill>
                <a:latin typeface="Calibri"/>
                <a:ea typeface="Calibri"/>
                <a:cs typeface="Calibri"/>
                <a:sym typeface="Calibri"/>
              </a:rPr>
              <a:t>P2 (3 ms) — entra de inmediato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6507328" y="4617720"/>
            <a:ext cx="481568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CD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CCDC"/>
                </a:solidFill>
                <a:latin typeface="Calibri"/>
                <a:ea typeface="Calibri"/>
                <a:cs typeface="Calibri"/>
                <a:sym typeface="Calibri"/>
              </a:rPr>
              <a:t>Se detiene P1 (le faltan 8 ms). Llega P2 con solo 3 ms → 3 &lt; 8, ocurre la preemption. Al terminar P2, P1 continúa donde quedó.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8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7896"/>
                </a:solidFill>
                <a:latin typeface="Calibri"/>
                <a:ea typeface="Calibri"/>
                <a:cs typeface="Calibri"/>
                <a:sym typeface="Calibri"/>
              </a:rPr>
              <a:t>SRTF  ·  Planificación de CPU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72A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0C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E0C0"/>
                </a:solidFill>
                <a:latin typeface="Calibri"/>
                <a:ea typeface="Calibri"/>
                <a:cs typeface="Calibri"/>
                <a:sym typeface="Calibri"/>
              </a:rPr>
              <a:t>CASO PRÁCTICO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621792" y="713232"/>
            <a:ext cx="1091153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Paso a paso: planteamos un ejemplo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Cuatro procesos llegan en distintos momentos, cada uno con su propia ráfaga de CPU.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0" name="Google Shape;240;p18"/>
          <p:cNvGraphicFramePr/>
          <p:nvPr/>
        </p:nvGraphicFramePr>
        <p:xfrm>
          <a:off x="1737360" y="242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{E84239A8-674F-478D-BFEE-9A855FB49194}</a:tableStyleId>
              </a:tblPr>
              <a:tblGrid>
                <a:gridCol w="1737350"/>
                <a:gridCol w="1737350"/>
                <a:gridCol w="1737350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Proceso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1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Llegada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1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CPU Burst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154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4FA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F2F4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4FA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F2F4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4FA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F2F4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C33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4FA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F2F4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4FA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F2F4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4FA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F2F4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40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4FA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F2F4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P3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4FA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F2F4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4FA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F2F4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C33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4FA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F2F4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P4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4FA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F2F4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4FA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F2F4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40"/>
                    </a:solidFill>
                  </a:tcPr>
                </a:tc>
              </a:tr>
            </a:tbl>
          </a:graphicData>
        </a:graphic>
      </p:graphicFrame>
      <p:sp>
        <p:nvSpPr>
          <p:cNvPr id="241" name="Google Shape;241;p18"/>
          <p:cNvSpPr/>
          <p:nvPr/>
        </p:nvSpPr>
        <p:spPr>
          <a:xfrm>
            <a:off x="7315200" y="2423160"/>
            <a:ext cx="4251960" cy="2377440"/>
          </a:xfrm>
          <a:prstGeom prst="roundRect">
            <a:avLst>
              <a:gd fmla="val 3462" name="adj"/>
            </a:avLst>
          </a:prstGeom>
          <a:solidFill>
            <a:srgbClr val="1B2640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8"/>
          <p:cNvSpPr/>
          <p:nvPr/>
        </p:nvSpPr>
        <p:spPr>
          <a:xfrm>
            <a:off x="7589520" y="2697480"/>
            <a:ext cx="548640" cy="548640"/>
          </a:xfrm>
          <a:prstGeom prst="ellipse">
            <a:avLst/>
          </a:prstGeom>
          <a:solidFill>
            <a:srgbClr val="153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3" name="Google Shape;2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7653" y="2845613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8"/>
          <p:cNvSpPr/>
          <p:nvPr/>
        </p:nvSpPr>
        <p:spPr>
          <a:xfrm>
            <a:off x="8321040" y="271576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Pregunta clave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7589520" y="3291840"/>
            <a:ext cx="3703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¿Qué proceso debe ejecutarse en cada instante, considerando el tiempo restante de todos?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640080" y="5074920"/>
            <a:ext cx="10911535" cy="1051560"/>
          </a:xfrm>
          <a:prstGeom prst="roundRect">
            <a:avLst>
              <a:gd fmla="val 7826" name="adj"/>
            </a:avLst>
          </a:prstGeom>
          <a:solidFill>
            <a:srgbClr val="1B2640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8"/>
          <p:cNvSpPr/>
          <p:nvPr/>
        </p:nvSpPr>
        <p:spPr>
          <a:xfrm>
            <a:off x="914400" y="5212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ORDEN DE EJECUCIÓN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914400" y="5532120"/>
            <a:ext cx="1097280" cy="457200"/>
          </a:xfrm>
          <a:prstGeom prst="roundRect">
            <a:avLst>
              <a:gd fmla="val 14000" name="adj"/>
            </a:avLst>
          </a:prstGeom>
          <a:solidFill>
            <a:srgbClr val="10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8"/>
          <p:cNvSpPr/>
          <p:nvPr/>
        </p:nvSpPr>
        <p:spPr>
          <a:xfrm>
            <a:off x="914400" y="55321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0" name="Google Shape;25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11680" y="5669280"/>
            <a:ext cx="2560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8"/>
          <p:cNvSpPr/>
          <p:nvPr/>
        </p:nvSpPr>
        <p:spPr>
          <a:xfrm>
            <a:off x="2331720" y="5532120"/>
            <a:ext cx="1097280" cy="457200"/>
          </a:xfrm>
          <a:prstGeom prst="roundRect">
            <a:avLst>
              <a:gd fmla="val 14000" name="adj"/>
            </a:avLst>
          </a:prstGeom>
          <a:solidFill>
            <a:srgbClr val="153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8"/>
          <p:cNvSpPr/>
          <p:nvPr/>
        </p:nvSpPr>
        <p:spPr>
          <a:xfrm>
            <a:off x="2331720" y="55321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0C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E0C0"/>
                </a:solidFill>
                <a:latin typeface="Calibri"/>
                <a:ea typeface="Calibri"/>
                <a:cs typeface="Calibri"/>
                <a:sym typeface="Calibri"/>
              </a:rPr>
              <a:t>P2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3" name="Google Shape;25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5669280"/>
            <a:ext cx="2560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8"/>
          <p:cNvSpPr/>
          <p:nvPr/>
        </p:nvSpPr>
        <p:spPr>
          <a:xfrm>
            <a:off x="3749040" y="5532120"/>
            <a:ext cx="1097280" cy="457200"/>
          </a:xfrm>
          <a:prstGeom prst="roundRect">
            <a:avLst>
              <a:gd fmla="val 14000" name="adj"/>
            </a:avLst>
          </a:prstGeom>
          <a:solidFill>
            <a:srgbClr val="153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8"/>
          <p:cNvSpPr/>
          <p:nvPr/>
        </p:nvSpPr>
        <p:spPr>
          <a:xfrm>
            <a:off x="3749040" y="55321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0C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E0C0"/>
                </a:solidFill>
                <a:latin typeface="Calibri"/>
                <a:ea typeface="Calibri"/>
                <a:cs typeface="Calibri"/>
                <a:sym typeface="Calibri"/>
              </a:rPr>
              <a:t>P3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6" name="Google Shape;25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0" y="5669280"/>
            <a:ext cx="2560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8"/>
          <p:cNvSpPr/>
          <p:nvPr/>
        </p:nvSpPr>
        <p:spPr>
          <a:xfrm>
            <a:off x="5166360" y="5532120"/>
            <a:ext cx="1097280" cy="457200"/>
          </a:xfrm>
          <a:prstGeom prst="roundRect">
            <a:avLst>
              <a:gd fmla="val 14000" name="adj"/>
            </a:avLst>
          </a:prstGeom>
          <a:solidFill>
            <a:srgbClr val="153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8"/>
          <p:cNvSpPr/>
          <p:nvPr/>
        </p:nvSpPr>
        <p:spPr>
          <a:xfrm>
            <a:off x="5166360" y="55321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0C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E0C0"/>
                </a:solidFill>
                <a:latin typeface="Calibri"/>
                <a:ea typeface="Calibri"/>
                <a:cs typeface="Calibri"/>
                <a:sym typeface="Calibri"/>
              </a:rPr>
              <a:t>P4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9" name="Google Shape;2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3640" y="5669280"/>
            <a:ext cx="2560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8"/>
          <p:cNvSpPr/>
          <p:nvPr/>
        </p:nvSpPr>
        <p:spPr>
          <a:xfrm>
            <a:off x="6583680" y="5532120"/>
            <a:ext cx="1097280" cy="457200"/>
          </a:xfrm>
          <a:prstGeom prst="roundRect">
            <a:avLst>
              <a:gd fmla="val 14000" name="adj"/>
            </a:avLst>
          </a:prstGeom>
          <a:solidFill>
            <a:srgbClr val="153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8"/>
          <p:cNvSpPr/>
          <p:nvPr/>
        </p:nvSpPr>
        <p:spPr>
          <a:xfrm>
            <a:off x="6583680" y="55321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0C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E0C0"/>
                </a:solidFill>
                <a:latin typeface="Calibri"/>
                <a:ea typeface="Calibri"/>
                <a:cs typeface="Calibri"/>
                <a:sym typeface="Calibri"/>
              </a:rPr>
              <a:t>P2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2" name="Google Shape;2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80960" y="5669280"/>
            <a:ext cx="256032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8"/>
          <p:cNvSpPr/>
          <p:nvPr/>
        </p:nvSpPr>
        <p:spPr>
          <a:xfrm>
            <a:off x="8001000" y="5532120"/>
            <a:ext cx="1097280" cy="457200"/>
          </a:xfrm>
          <a:prstGeom prst="roundRect">
            <a:avLst>
              <a:gd fmla="val 14000" name="adj"/>
            </a:avLst>
          </a:prstGeom>
          <a:solidFill>
            <a:srgbClr val="10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8"/>
          <p:cNvSpPr/>
          <p:nvPr/>
        </p:nvSpPr>
        <p:spPr>
          <a:xfrm>
            <a:off x="8001000" y="55321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8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8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7896"/>
                </a:solidFill>
                <a:latin typeface="Calibri"/>
                <a:ea typeface="Calibri"/>
                <a:cs typeface="Calibri"/>
                <a:sym typeface="Calibri"/>
              </a:rPr>
              <a:t>SRTF  ·  Planificación de CPU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72A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9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0C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E0C0"/>
                </a:solidFill>
                <a:latin typeface="Calibri"/>
                <a:ea typeface="Calibri"/>
                <a:cs typeface="Calibri"/>
                <a:sym typeface="Calibri"/>
              </a:rPr>
              <a:t>CASO PRÁCTICO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621792" y="713232"/>
            <a:ext cx="1091153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Decisiones del planificador, instante a instante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640080" y="1783080"/>
            <a:ext cx="2670048" cy="3246120"/>
          </a:xfrm>
          <a:prstGeom prst="roundRect">
            <a:avLst>
              <a:gd fmla="val 3082" name="adj"/>
            </a:avLst>
          </a:prstGeom>
          <a:solidFill>
            <a:srgbClr val="1B2640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9"/>
          <p:cNvSpPr/>
          <p:nvPr/>
        </p:nvSpPr>
        <p:spPr>
          <a:xfrm>
            <a:off x="868680" y="2011680"/>
            <a:ext cx="640080" cy="640080"/>
          </a:xfrm>
          <a:prstGeom prst="ellipse">
            <a:avLst/>
          </a:prstGeom>
          <a:solidFill>
            <a:srgbClr val="10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9"/>
          <p:cNvSpPr/>
          <p:nvPr/>
        </p:nvSpPr>
        <p:spPr>
          <a:xfrm>
            <a:off x="868680" y="20116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0C0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0E0C0"/>
                </a:solidFill>
                <a:latin typeface="Cambria"/>
                <a:ea typeface="Cambria"/>
                <a:cs typeface="Cambria"/>
                <a:sym typeface="Cambria"/>
              </a:rPr>
              <a:t>t = 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868680" y="2834640"/>
            <a:ext cx="22128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Solo existe P1 (8 ms)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868680" y="3474720"/>
            <a:ext cx="221284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La CPU comienza con P1.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9"/>
          <p:cNvSpPr/>
          <p:nvPr/>
        </p:nvSpPr>
        <p:spPr>
          <a:xfrm>
            <a:off x="3474720" y="1783080"/>
            <a:ext cx="2670048" cy="3246120"/>
          </a:xfrm>
          <a:prstGeom prst="roundRect">
            <a:avLst>
              <a:gd fmla="val 3082" name="adj"/>
            </a:avLst>
          </a:prstGeom>
          <a:solidFill>
            <a:srgbClr val="1B2640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9"/>
          <p:cNvSpPr/>
          <p:nvPr/>
        </p:nvSpPr>
        <p:spPr>
          <a:xfrm>
            <a:off x="3703320" y="2011680"/>
            <a:ext cx="640080" cy="640080"/>
          </a:xfrm>
          <a:prstGeom prst="ellipse">
            <a:avLst/>
          </a:prstGeom>
          <a:solidFill>
            <a:srgbClr val="10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9"/>
          <p:cNvSpPr/>
          <p:nvPr/>
        </p:nvSpPr>
        <p:spPr>
          <a:xfrm>
            <a:off x="3703320" y="20116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0C0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0E0C0"/>
                </a:solidFill>
                <a:latin typeface="Cambria"/>
                <a:ea typeface="Cambria"/>
                <a:cs typeface="Cambria"/>
                <a:sym typeface="Cambria"/>
              </a:rPr>
              <a:t>t =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9"/>
          <p:cNvSpPr/>
          <p:nvPr/>
        </p:nvSpPr>
        <p:spPr>
          <a:xfrm>
            <a:off x="3703320" y="2834640"/>
            <a:ext cx="22128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Llega P2 (4 ms)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3703320" y="3474720"/>
            <a:ext cx="221284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P1 tiene 7 ms restantes. Como 4 &lt; 7, se interrumpe P1.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9"/>
          <p:cNvSpPr/>
          <p:nvPr/>
        </p:nvSpPr>
        <p:spPr>
          <a:xfrm>
            <a:off x="3703320" y="4462272"/>
            <a:ext cx="1188720" cy="365760"/>
          </a:xfrm>
          <a:prstGeom prst="roundRect">
            <a:avLst>
              <a:gd fmla="val 50000" name="adj"/>
            </a:avLst>
          </a:prstGeom>
          <a:solidFill>
            <a:srgbClr val="153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9"/>
          <p:cNvSpPr/>
          <p:nvPr/>
        </p:nvSpPr>
        <p:spPr>
          <a:xfrm>
            <a:off x="3703320" y="446227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0C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E0C0"/>
                </a:solidFill>
                <a:latin typeface="Calibri"/>
                <a:ea typeface="Calibri"/>
                <a:cs typeface="Calibri"/>
                <a:sym typeface="Calibri"/>
              </a:rPr>
              <a:t>4 &lt; 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9"/>
          <p:cNvSpPr/>
          <p:nvPr/>
        </p:nvSpPr>
        <p:spPr>
          <a:xfrm>
            <a:off x="6309360" y="1783080"/>
            <a:ext cx="2670048" cy="3246120"/>
          </a:xfrm>
          <a:prstGeom prst="roundRect">
            <a:avLst>
              <a:gd fmla="val 3082" name="adj"/>
            </a:avLst>
          </a:prstGeom>
          <a:solidFill>
            <a:srgbClr val="1B2640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9"/>
          <p:cNvSpPr/>
          <p:nvPr/>
        </p:nvSpPr>
        <p:spPr>
          <a:xfrm>
            <a:off x="6537960" y="2011680"/>
            <a:ext cx="640080" cy="640080"/>
          </a:xfrm>
          <a:prstGeom prst="ellipse">
            <a:avLst/>
          </a:prstGeom>
          <a:solidFill>
            <a:srgbClr val="10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9"/>
          <p:cNvSpPr/>
          <p:nvPr/>
        </p:nvSpPr>
        <p:spPr>
          <a:xfrm>
            <a:off x="6537960" y="20116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0C0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0E0C0"/>
                </a:solidFill>
                <a:latin typeface="Cambria"/>
                <a:ea typeface="Cambria"/>
                <a:cs typeface="Cambria"/>
                <a:sym typeface="Cambria"/>
              </a:rPr>
              <a:t>t =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9"/>
          <p:cNvSpPr/>
          <p:nvPr/>
        </p:nvSpPr>
        <p:spPr>
          <a:xfrm>
            <a:off x="6537960" y="2834640"/>
            <a:ext cx="22128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Llega P3 (2 ms)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9"/>
          <p:cNvSpPr/>
          <p:nvPr/>
        </p:nvSpPr>
        <p:spPr>
          <a:xfrm>
            <a:off x="6537960" y="3474720"/>
            <a:ext cx="221284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P2 tiene 3 ms restantes. Como 2 &lt; 3, se interrumpe P2.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/>
          <p:nvPr/>
        </p:nvSpPr>
        <p:spPr>
          <a:xfrm>
            <a:off x="6537960" y="4462272"/>
            <a:ext cx="1188720" cy="365760"/>
          </a:xfrm>
          <a:prstGeom prst="roundRect">
            <a:avLst>
              <a:gd fmla="val 50000" name="adj"/>
            </a:avLst>
          </a:prstGeom>
          <a:solidFill>
            <a:srgbClr val="153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9"/>
          <p:cNvSpPr/>
          <p:nvPr/>
        </p:nvSpPr>
        <p:spPr>
          <a:xfrm>
            <a:off x="6537960" y="446227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0C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E0C0"/>
                </a:solidFill>
                <a:latin typeface="Calibri"/>
                <a:ea typeface="Calibri"/>
                <a:cs typeface="Calibri"/>
                <a:sym typeface="Calibri"/>
              </a:rPr>
              <a:t>2 &lt;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/>
          <p:nvPr/>
        </p:nvSpPr>
        <p:spPr>
          <a:xfrm>
            <a:off x="9144000" y="1783080"/>
            <a:ext cx="2670048" cy="3246120"/>
          </a:xfrm>
          <a:prstGeom prst="roundRect">
            <a:avLst>
              <a:gd fmla="val 3082" name="adj"/>
            </a:avLst>
          </a:prstGeom>
          <a:solidFill>
            <a:srgbClr val="1B2640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9"/>
          <p:cNvSpPr/>
          <p:nvPr/>
        </p:nvSpPr>
        <p:spPr>
          <a:xfrm>
            <a:off x="9372600" y="2011680"/>
            <a:ext cx="640080" cy="640080"/>
          </a:xfrm>
          <a:prstGeom prst="ellipse">
            <a:avLst/>
          </a:prstGeom>
          <a:solidFill>
            <a:srgbClr val="10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9"/>
          <p:cNvSpPr/>
          <p:nvPr/>
        </p:nvSpPr>
        <p:spPr>
          <a:xfrm>
            <a:off x="9372600" y="20116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0C0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0E0C0"/>
                </a:solidFill>
                <a:latin typeface="Cambria"/>
                <a:ea typeface="Cambria"/>
                <a:cs typeface="Cambria"/>
                <a:sym typeface="Cambria"/>
              </a:rPr>
              <a:t>t =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9"/>
          <p:cNvSpPr/>
          <p:nvPr/>
        </p:nvSpPr>
        <p:spPr>
          <a:xfrm>
            <a:off x="9372600" y="2834640"/>
            <a:ext cx="22128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Llega P4 (1 ms)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9"/>
          <p:cNvSpPr/>
          <p:nvPr/>
        </p:nvSpPr>
        <p:spPr>
          <a:xfrm>
            <a:off x="9372600" y="3474720"/>
            <a:ext cx="221284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P3 tiene 1 ms restante. Hay empate: continúa el proceso en curso.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9"/>
          <p:cNvSpPr/>
          <p:nvPr/>
        </p:nvSpPr>
        <p:spPr>
          <a:xfrm>
            <a:off x="9372600" y="4462272"/>
            <a:ext cx="1188720" cy="365760"/>
          </a:xfrm>
          <a:prstGeom prst="roundRect">
            <a:avLst>
              <a:gd fmla="val 50000" name="adj"/>
            </a:avLst>
          </a:prstGeom>
          <a:solidFill>
            <a:srgbClr val="153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9"/>
          <p:cNvSpPr/>
          <p:nvPr/>
        </p:nvSpPr>
        <p:spPr>
          <a:xfrm>
            <a:off x="9372600" y="446227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0C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E0C0"/>
                </a:solidFill>
                <a:latin typeface="Calibri"/>
                <a:ea typeface="Calibri"/>
                <a:cs typeface="Calibri"/>
                <a:sym typeface="Calibri"/>
              </a:rPr>
              <a:t>1 =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9"/>
          <p:cNvSpPr/>
          <p:nvPr/>
        </p:nvSpPr>
        <p:spPr>
          <a:xfrm>
            <a:off x="640080" y="5166360"/>
            <a:ext cx="1091153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Este ejemplo muestra cómo SRTF puede cambiar varias veces de proceso para favorecer siempre al que necesita menos tiempo.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9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8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7896"/>
                </a:solidFill>
                <a:latin typeface="Calibri"/>
                <a:ea typeface="Calibri"/>
                <a:cs typeface="Calibri"/>
                <a:sym typeface="Calibri"/>
              </a:rPr>
              <a:t>SRTF  ·  Planificación de CPU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9"/>
          <p:cNvSpPr/>
          <p:nvPr/>
        </p:nvSpPr>
        <p:spPr>
          <a:xfrm>
            <a:off x="11094415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896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72A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0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0C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E0C0"/>
                </a:solidFill>
                <a:latin typeface="Calibri"/>
                <a:ea typeface="Calibri"/>
                <a:cs typeface="Calibri"/>
                <a:sym typeface="Calibri"/>
              </a:rPr>
              <a:t>REQUISITOS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0"/>
          <p:cNvSpPr/>
          <p:nvPr/>
        </p:nvSpPr>
        <p:spPr>
          <a:xfrm>
            <a:off x="621792" y="713232"/>
            <a:ext cx="1091153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¿Qué información necesita conocer SRTF?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640080" y="1783080"/>
            <a:ext cx="3502152" cy="2286000"/>
          </a:xfrm>
          <a:prstGeom prst="roundRect">
            <a:avLst>
              <a:gd fmla="val 3600" name="adj"/>
            </a:avLst>
          </a:prstGeom>
          <a:solidFill>
            <a:srgbClr val="1B2640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0"/>
          <p:cNvSpPr/>
          <p:nvPr/>
        </p:nvSpPr>
        <p:spPr>
          <a:xfrm>
            <a:off x="932688" y="2075688"/>
            <a:ext cx="685800" cy="685800"/>
          </a:xfrm>
          <a:prstGeom prst="ellipse">
            <a:avLst/>
          </a:prstGeom>
          <a:solidFill>
            <a:srgbClr val="153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1" name="Google Shape;3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7854" y="2260854"/>
            <a:ext cx="315468" cy="315468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0"/>
          <p:cNvSpPr/>
          <p:nvPr/>
        </p:nvSpPr>
        <p:spPr>
          <a:xfrm>
            <a:off x="932688" y="2926080"/>
            <a:ext cx="2953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Tiempo de llegada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0"/>
          <p:cNvSpPr/>
          <p:nvPr/>
        </p:nvSpPr>
        <p:spPr>
          <a:xfrm>
            <a:off x="932688" y="3355848"/>
            <a:ext cx="295351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Arrival Time: cuándo ingresa cada proceso al sistema.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4416552" y="1783080"/>
            <a:ext cx="3502152" cy="2286000"/>
          </a:xfrm>
          <a:prstGeom prst="roundRect">
            <a:avLst>
              <a:gd fmla="val 3600" name="adj"/>
            </a:avLst>
          </a:prstGeom>
          <a:solidFill>
            <a:srgbClr val="1B2640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0"/>
          <p:cNvSpPr/>
          <p:nvPr/>
        </p:nvSpPr>
        <p:spPr>
          <a:xfrm>
            <a:off x="4709160" y="2075688"/>
            <a:ext cx="685800" cy="685800"/>
          </a:xfrm>
          <a:prstGeom prst="ellipse">
            <a:avLst/>
          </a:prstGeom>
          <a:solidFill>
            <a:srgbClr val="153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6" name="Google Shape;31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4326" y="2260854"/>
            <a:ext cx="315468" cy="315468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0"/>
          <p:cNvSpPr/>
          <p:nvPr/>
        </p:nvSpPr>
        <p:spPr>
          <a:xfrm>
            <a:off x="4709160" y="2926080"/>
            <a:ext cx="2953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Tiempo de CPU requerido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0"/>
          <p:cNvSpPr/>
          <p:nvPr/>
        </p:nvSpPr>
        <p:spPr>
          <a:xfrm>
            <a:off x="4709160" y="3355848"/>
            <a:ext cx="295351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Burst Time: cuánto necesita el proceso para finalizar.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0"/>
          <p:cNvSpPr/>
          <p:nvPr/>
        </p:nvSpPr>
        <p:spPr>
          <a:xfrm>
            <a:off x="8193024" y="1783080"/>
            <a:ext cx="3502152" cy="2286000"/>
          </a:xfrm>
          <a:prstGeom prst="roundRect">
            <a:avLst>
              <a:gd fmla="val 3600" name="adj"/>
            </a:avLst>
          </a:prstGeom>
          <a:solidFill>
            <a:srgbClr val="1B2640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0"/>
          <p:cNvSpPr/>
          <p:nvPr/>
        </p:nvSpPr>
        <p:spPr>
          <a:xfrm>
            <a:off x="8485632" y="2075688"/>
            <a:ext cx="685800" cy="685800"/>
          </a:xfrm>
          <a:prstGeom prst="ellipse">
            <a:avLst/>
          </a:prstGeom>
          <a:solidFill>
            <a:srgbClr val="153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1" name="Google Shape;32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70798" y="2260854"/>
            <a:ext cx="315468" cy="315468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0"/>
          <p:cNvSpPr/>
          <p:nvPr/>
        </p:nvSpPr>
        <p:spPr>
          <a:xfrm>
            <a:off x="8485632" y="2926080"/>
            <a:ext cx="2953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Tiempo restante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0"/>
          <p:cNvSpPr/>
          <p:nvPr/>
        </p:nvSpPr>
        <p:spPr>
          <a:xfrm>
            <a:off x="8485632" y="3355848"/>
            <a:ext cx="295351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Lo que aún falta ejecutar en cada instante de decisión.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640080" y="4343400"/>
            <a:ext cx="10911535" cy="1600200"/>
          </a:xfrm>
          <a:prstGeom prst="roundRect">
            <a:avLst>
              <a:gd fmla="val 5143" name="adj"/>
            </a:avLst>
          </a:prstGeom>
          <a:solidFill>
            <a:srgbClr val="243154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0"/>
          <p:cNvSpPr/>
          <p:nvPr/>
        </p:nvSpPr>
        <p:spPr>
          <a:xfrm>
            <a:off x="960120" y="4663440"/>
            <a:ext cx="640080" cy="640080"/>
          </a:xfrm>
          <a:prstGeom prst="ellipse">
            <a:avLst/>
          </a:prstGeom>
          <a:solidFill>
            <a:srgbClr val="1B26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6" name="Google Shape;32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2942" y="4836262"/>
            <a:ext cx="294437" cy="294437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0"/>
          <p:cNvSpPr/>
          <p:nvPr/>
        </p:nvSpPr>
        <p:spPr>
          <a:xfrm>
            <a:off x="1828800" y="4572000"/>
            <a:ext cx="94484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0C0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00E0C0"/>
                </a:solidFill>
                <a:latin typeface="Cambria"/>
                <a:ea typeface="Cambria"/>
                <a:cs typeface="Cambria"/>
                <a:sym typeface="Cambria"/>
              </a:rPr>
              <a:t>El mayor problema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0"/>
          <p:cNvSpPr/>
          <p:nvPr/>
        </p:nvSpPr>
        <p:spPr>
          <a:xfrm>
            <a:off x="1828800" y="4937760"/>
            <a:ext cx="94484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D7E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3D7E6"/>
                </a:solidFill>
                <a:latin typeface="Calibri"/>
                <a:ea typeface="Calibri"/>
                <a:cs typeface="Calibri"/>
                <a:sym typeface="Calibri"/>
              </a:rPr>
              <a:t>El sistema operativo normalmente no conoce con exactitud cuánto tardará un proceso en finalizar. En la práctica, lo estima a partir del comportamiento histórico o de predicciones.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0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8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7896"/>
                </a:solidFill>
                <a:latin typeface="Calibri"/>
                <a:ea typeface="Calibri"/>
                <a:cs typeface="Calibri"/>
                <a:sym typeface="Calibri"/>
              </a:rPr>
              <a:t>SRTF  ·  Planificación de CPU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0"/>
          <p:cNvSpPr/>
          <p:nvPr/>
        </p:nvSpPr>
        <p:spPr>
          <a:xfrm>
            <a:off x="11094415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896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72A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1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0C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E0C0"/>
                </a:solidFill>
                <a:latin typeface="Calibri"/>
                <a:ea typeface="Calibri"/>
                <a:cs typeface="Calibri"/>
                <a:sym typeface="Calibri"/>
              </a:rPr>
              <a:t>BENEFICIOS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621792" y="713232"/>
            <a:ext cx="1091153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Ventajas de SRTF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640080" y="1783080"/>
            <a:ext cx="5422392" cy="2194560"/>
          </a:xfrm>
          <a:prstGeom prst="roundRect">
            <a:avLst>
              <a:gd fmla="val 3750" name="adj"/>
            </a:avLst>
          </a:prstGeom>
          <a:solidFill>
            <a:srgbClr val="1B2640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1"/>
          <p:cNvSpPr/>
          <p:nvPr/>
        </p:nvSpPr>
        <p:spPr>
          <a:xfrm>
            <a:off x="932688" y="2514600"/>
            <a:ext cx="731520" cy="731520"/>
          </a:xfrm>
          <a:prstGeom prst="ellipse">
            <a:avLst/>
          </a:prstGeom>
          <a:solidFill>
            <a:srgbClr val="153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0" name="Google Shape;34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198" y="2712110"/>
            <a:ext cx="336499" cy="33649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1"/>
          <p:cNvSpPr/>
          <p:nvPr/>
        </p:nvSpPr>
        <p:spPr>
          <a:xfrm>
            <a:off x="1874520" y="2194560"/>
            <a:ext cx="3913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Reduce el tiempo de espera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1"/>
          <p:cNvSpPr/>
          <p:nvPr/>
        </p:nvSpPr>
        <p:spPr>
          <a:xfrm>
            <a:off x="1874520" y="2651760"/>
            <a:ext cx="391363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Los procesos cortos terminan rápidamente.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/>
          <p:nvPr/>
        </p:nvSpPr>
        <p:spPr>
          <a:xfrm>
            <a:off x="6309360" y="1783080"/>
            <a:ext cx="5422392" cy="2194560"/>
          </a:xfrm>
          <a:prstGeom prst="roundRect">
            <a:avLst>
              <a:gd fmla="val 3750" name="adj"/>
            </a:avLst>
          </a:prstGeom>
          <a:solidFill>
            <a:srgbClr val="1B2640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1"/>
          <p:cNvSpPr/>
          <p:nvPr/>
        </p:nvSpPr>
        <p:spPr>
          <a:xfrm>
            <a:off x="6601968" y="2514600"/>
            <a:ext cx="731520" cy="731520"/>
          </a:xfrm>
          <a:prstGeom prst="ellipse">
            <a:avLst/>
          </a:prstGeom>
          <a:solidFill>
            <a:srgbClr val="153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5" name="Google Shape;34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99478" y="2712110"/>
            <a:ext cx="336499" cy="336499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1"/>
          <p:cNvSpPr/>
          <p:nvPr/>
        </p:nvSpPr>
        <p:spPr>
          <a:xfrm>
            <a:off x="7543800" y="2194560"/>
            <a:ext cx="3913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Reduce el tiempo de retorno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7543800" y="2651760"/>
            <a:ext cx="391363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Los trabajos pequeños obtienen respuesta casi inmediata.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1"/>
          <p:cNvSpPr/>
          <p:nvPr/>
        </p:nvSpPr>
        <p:spPr>
          <a:xfrm>
            <a:off x="640080" y="4206240"/>
            <a:ext cx="5422392" cy="2194560"/>
          </a:xfrm>
          <a:prstGeom prst="roundRect">
            <a:avLst>
              <a:gd fmla="val 3750" name="adj"/>
            </a:avLst>
          </a:prstGeom>
          <a:solidFill>
            <a:srgbClr val="1B2640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1"/>
          <p:cNvSpPr/>
          <p:nvPr/>
        </p:nvSpPr>
        <p:spPr>
          <a:xfrm>
            <a:off x="932688" y="4937760"/>
            <a:ext cx="731520" cy="731520"/>
          </a:xfrm>
          <a:prstGeom prst="ellipse">
            <a:avLst/>
          </a:prstGeom>
          <a:solidFill>
            <a:srgbClr val="153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0" name="Google Shape;35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0198" y="5135270"/>
            <a:ext cx="336499" cy="336499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1"/>
          <p:cNvSpPr/>
          <p:nvPr/>
        </p:nvSpPr>
        <p:spPr>
          <a:xfrm>
            <a:off x="1874520" y="4617720"/>
            <a:ext cx="3913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Muy eficiente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1"/>
          <p:cNvSpPr/>
          <p:nvPr/>
        </p:nvSpPr>
        <p:spPr>
          <a:xfrm>
            <a:off x="1874520" y="5074920"/>
            <a:ext cx="391363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Si se conoce el tiempo de CPU exacto, minimiza el tiempo promedio de espera.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1"/>
          <p:cNvSpPr/>
          <p:nvPr/>
        </p:nvSpPr>
        <p:spPr>
          <a:xfrm>
            <a:off x="6309360" y="4206240"/>
            <a:ext cx="5422392" cy="2194560"/>
          </a:xfrm>
          <a:prstGeom prst="roundRect">
            <a:avLst>
              <a:gd fmla="val 3750" name="adj"/>
            </a:avLst>
          </a:prstGeom>
          <a:solidFill>
            <a:srgbClr val="1B2640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1"/>
          <p:cNvSpPr/>
          <p:nvPr/>
        </p:nvSpPr>
        <p:spPr>
          <a:xfrm>
            <a:off x="6601968" y="4937760"/>
            <a:ext cx="731520" cy="731520"/>
          </a:xfrm>
          <a:prstGeom prst="ellipse">
            <a:avLst/>
          </a:prstGeom>
          <a:solidFill>
            <a:srgbClr val="153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5" name="Google Shape;35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99478" y="5135270"/>
            <a:ext cx="336499" cy="33649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1"/>
          <p:cNvSpPr/>
          <p:nvPr/>
        </p:nvSpPr>
        <p:spPr>
          <a:xfrm>
            <a:off x="7543800" y="4617720"/>
            <a:ext cx="3913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Ideal para trabajos cortos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1"/>
          <p:cNvSpPr/>
          <p:nvPr/>
        </p:nvSpPr>
        <p:spPr>
          <a:xfrm>
            <a:off x="7543800" y="5074920"/>
            <a:ext cx="391363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Los programas simples finalizan antes que los procesos largos.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1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8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7896"/>
                </a:solidFill>
                <a:latin typeface="Calibri"/>
                <a:ea typeface="Calibri"/>
                <a:cs typeface="Calibri"/>
                <a:sym typeface="Calibri"/>
              </a:rPr>
              <a:t>SRTF  ·  Planificación de CPU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1"/>
          <p:cNvSpPr/>
          <p:nvPr/>
        </p:nvSpPr>
        <p:spPr>
          <a:xfrm>
            <a:off x="11094415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896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72A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2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0C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E0C0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2"/>
          <p:cNvSpPr/>
          <p:nvPr/>
        </p:nvSpPr>
        <p:spPr>
          <a:xfrm>
            <a:off x="621792" y="713232"/>
            <a:ext cx="1091153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Desventajas de SRTF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2"/>
          <p:cNvSpPr/>
          <p:nvPr/>
        </p:nvSpPr>
        <p:spPr>
          <a:xfrm>
            <a:off x="640080" y="1783080"/>
            <a:ext cx="3502152" cy="3977640"/>
          </a:xfrm>
          <a:prstGeom prst="roundRect">
            <a:avLst>
              <a:gd fmla="val 2350" name="adj"/>
            </a:avLst>
          </a:prstGeom>
          <a:solidFill>
            <a:srgbClr val="1B2640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2"/>
          <p:cNvSpPr/>
          <p:nvPr/>
        </p:nvSpPr>
        <p:spPr>
          <a:xfrm>
            <a:off x="932688" y="2103120"/>
            <a:ext cx="713232" cy="713232"/>
          </a:xfrm>
          <a:prstGeom prst="ellipse">
            <a:avLst/>
          </a:prstGeom>
          <a:solidFill>
            <a:srgbClr val="3A21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9" name="Google Shape;36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261" y="2295693"/>
            <a:ext cx="328087" cy="328087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2"/>
          <p:cNvSpPr/>
          <p:nvPr/>
        </p:nvSpPr>
        <p:spPr>
          <a:xfrm>
            <a:off x="932688" y="3017520"/>
            <a:ext cx="295351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Muchas interrupciones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2"/>
          <p:cNvSpPr/>
          <p:nvPr/>
        </p:nvSpPr>
        <p:spPr>
          <a:xfrm>
            <a:off x="932688" y="3657600"/>
            <a:ext cx="295351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Cada llegada puede implicar guardar/cargar registros y un cambio de contexto: sobrecarga del sistema.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2"/>
          <p:cNvSpPr/>
          <p:nvPr/>
        </p:nvSpPr>
        <p:spPr>
          <a:xfrm>
            <a:off x="4416552" y="1783080"/>
            <a:ext cx="3502152" cy="3977640"/>
          </a:xfrm>
          <a:prstGeom prst="roundRect">
            <a:avLst>
              <a:gd fmla="val 2350" name="adj"/>
            </a:avLst>
          </a:prstGeom>
          <a:solidFill>
            <a:srgbClr val="1B2640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2"/>
          <p:cNvSpPr/>
          <p:nvPr/>
        </p:nvSpPr>
        <p:spPr>
          <a:xfrm>
            <a:off x="4709160" y="2103120"/>
            <a:ext cx="713232" cy="713232"/>
          </a:xfrm>
          <a:prstGeom prst="ellipse">
            <a:avLst/>
          </a:prstGeom>
          <a:solidFill>
            <a:srgbClr val="3A21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4" name="Google Shape;37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1733" y="2295693"/>
            <a:ext cx="328087" cy="328087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2"/>
          <p:cNvSpPr/>
          <p:nvPr/>
        </p:nvSpPr>
        <p:spPr>
          <a:xfrm>
            <a:off x="4709160" y="3017520"/>
            <a:ext cx="295351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Requiere conocer el Burst Time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2"/>
          <p:cNvSpPr/>
          <p:nvPr/>
        </p:nvSpPr>
        <p:spPr>
          <a:xfrm>
            <a:off x="4709160" y="3657600"/>
            <a:ext cx="295351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El SO rara vez sabe cuánto durará un proceso exactamente; debe estimarlo.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2"/>
          <p:cNvSpPr/>
          <p:nvPr/>
        </p:nvSpPr>
        <p:spPr>
          <a:xfrm>
            <a:off x="8193024" y="1783080"/>
            <a:ext cx="3502152" cy="3977640"/>
          </a:xfrm>
          <a:prstGeom prst="roundRect">
            <a:avLst>
              <a:gd fmla="val 2350" name="adj"/>
            </a:avLst>
          </a:prstGeom>
          <a:solidFill>
            <a:srgbClr val="FF6B5B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2"/>
          <p:cNvSpPr/>
          <p:nvPr/>
        </p:nvSpPr>
        <p:spPr>
          <a:xfrm>
            <a:off x="8485632" y="2103120"/>
            <a:ext cx="713232" cy="7132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9" name="Google Shape;37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78205" y="2295693"/>
            <a:ext cx="328087" cy="328087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2"/>
          <p:cNvSpPr/>
          <p:nvPr/>
        </p:nvSpPr>
        <p:spPr>
          <a:xfrm>
            <a:off x="8485632" y="3017520"/>
            <a:ext cx="295351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Puede producir Starvation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2"/>
          <p:cNvSpPr/>
          <p:nvPr/>
        </p:nvSpPr>
        <p:spPr>
          <a:xfrm>
            <a:off x="8485632" y="3657600"/>
            <a:ext cx="295351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DE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EDEA"/>
                </a:solidFill>
                <a:latin typeface="Calibri"/>
                <a:ea typeface="Calibri"/>
                <a:cs typeface="Calibri"/>
                <a:sym typeface="Calibri"/>
              </a:rPr>
              <a:t>La mayor desventaja: los procesos largos pueden esperar indefinidamente.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2"/>
          <p:cNvSpPr/>
          <p:nvPr/>
        </p:nvSpPr>
        <p:spPr>
          <a:xfrm>
            <a:off x="8485632" y="5257800"/>
            <a:ext cx="29535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9D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D9D2"/>
                </a:solidFill>
                <a:latin typeface="Calibri"/>
                <a:ea typeface="Calibri"/>
                <a:cs typeface="Calibri"/>
                <a:sym typeface="Calibri"/>
              </a:rPr>
              <a:t>VEREMOS ESTE CASO A CONTINUACIÓN 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8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7896"/>
                </a:solidFill>
                <a:latin typeface="Calibri"/>
                <a:ea typeface="Calibri"/>
                <a:cs typeface="Calibri"/>
                <a:sym typeface="Calibri"/>
              </a:rPr>
              <a:t>SRTF  ·  Planificación de CPU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2"/>
          <p:cNvSpPr/>
          <p:nvPr/>
        </p:nvSpPr>
        <p:spPr>
          <a:xfrm>
            <a:off x="11094415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896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72A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3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0C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E0C0"/>
                </a:solidFill>
                <a:latin typeface="Calibri"/>
                <a:ea typeface="Calibri"/>
                <a:cs typeface="Calibri"/>
                <a:sym typeface="Calibri"/>
              </a:rPr>
              <a:t>CASO CRÍTICO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3"/>
          <p:cNvSpPr/>
          <p:nvPr/>
        </p:nvSpPr>
        <p:spPr>
          <a:xfrm>
            <a:off x="621792" y="713232"/>
            <a:ext cx="1091153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Ejemplo de Starvation en SRTF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3"/>
          <p:cNvSpPr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P1 llega primero con una ráfaga larga de </a:t>
            </a:r>
            <a:r>
              <a:rPr b="1" i="0" lang="en-US" sz="1450" u="none" cap="none" strike="noStrike">
                <a:solidFill>
                  <a:srgbClr val="FF6B5B"/>
                </a:solidFill>
                <a:latin typeface="Calibri"/>
                <a:ea typeface="Calibri"/>
                <a:cs typeface="Calibri"/>
                <a:sym typeface="Calibri"/>
              </a:rPr>
              <a:t>30 ms.</a:t>
            </a:r>
            <a:r>
              <a:rPr b="0" i="0" lang="en-US" sz="145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 Luego llegan procesos cada vez más cortos que se cuelan delante de P1.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3"/>
          <p:cNvSpPr/>
          <p:nvPr/>
        </p:nvSpPr>
        <p:spPr>
          <a:xfrm>
            <a:off x="640080" y="22860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LLEGAN PROCESOS CADA VEZ MÁS CORTOS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3"/>
          <p:cNvSpPr/>
          <p:nvPr/>
        </p:nvSpPr>
        <p:spPr>
          <a:xfrm>
            <a:off x="640080" y="2651760"/>
            <a:ext cx="1463040" cy="868680"/>
          </a:xfrm>
          <a:prstGeom prst="roundRect">
            <a:avLst>
              <a:gd fmla="val 8421" name="adj"/>
            </a:avLst>
          </a:prstGeom>
          <a:solidFill>
            <a:srgbClr val="1B2640"/>
          </a:solidFill>
          <a:ln cap="flat" cmpd="sng" w="12700">
            <a:solidFill>
              <a:srgbClr val="3240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3"/>
          <p:cNvSpPr/>
          <p:nvPr/>
        </p:nvSpPr>
        <p:spPr>
          <a:xfrm>
            <a:off x="640080" y="272491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P2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3"/>
          <p:cNvSpPr/>
          <p:nvPr/>
        </p:nvSpPr>
        <p:spPr>
          <a:xfrm>
            <a:off x="640080" y="31089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t=1  ·  2 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3"/>
          <p:cNvSpPr/>
          <p:nvPr/>
        </p:nvSpPr>
        <p:spPr>
          <a:xfrm>
            <a:off x="2267712" y="2651760"/>
            <a:ext cx="1463040" cy="868680"/>
          </a:xfrm>
          <a:prstGeom prst="roundRect">
            <a:avLst>
              <a:gd fmla="val 8421" name="adj"/>
            </a:avLst>
          </a:prstGeom>
          <a:solidFill>
            <a:srgbClr val="1B2640"/>
          </a:solidFill>
          <a:ln cap="flat" cmpd="sng" w="12700">
            <a:solidFill>
              <a:srgbClr val="3240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3"/>
          <p:cNvSpPr/>
          <p:nvPr/>
        </p:nvSpPr>
        <p:spPr>
          <a:xfrm>
            <a:off x="2267712" y="272491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P3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3"/>
          <p:cNvSpPr/>
          <p:nvPr/>
        </p:nvSpPr>
        <p:spPr>
          <a:xfrm>
            <a:off x="2267712" y="31089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t=2  ·  1 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3"/>
          <p:cNvSpPr/>
          <p:nvPr/>
        </p:nvSpPr>
        <p:spPr>
          <a:xfrm>
            <a:off x="3895344" y="2651760"/>
            <a:ext cx="1463040" cy="868680"/>
          </a:xfrm>
          <a:prstGeom prst="roundRect">
            <a:avLst>
              <a:gd fmla="val 8421" name="adj"/>
            </a:avLst>
          </a:prstGeom>
          <a:solidFill>
            <a:srgbClr val="1B2640"/>
          </a:solidFill>
          <a:ln cap="flat" cmpd="sng" w="12700">
            <a:solidFill>
              <a:srgbClr val="3240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3"/>
          <p:cNvSpPr/>
          <p:nvPr/>
        </p:nvSpPr>
        <p:spPr>
          <a:xfrm>
            <a:off x="3895344" y="272491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P4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3"/>
          <p:cNvSpPr/>
          <p:nvPr/>
        </p:nvSpPr>
        <p:spPr>
          <a:xfrm>
            <a:off x="3895344" y="31089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t=3  ·  2 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3"/>
          <p:cNvSpPr/>
          <p:nvPr/>
        </p:nvSpPr>
        <p:spPr>
          <a:xfrm>
            <a:off x="5522976" y="2651760"/>
            <a:ext cx="1463040" cy="868680"/>
          </a:xfrm>
          <a:prstGeom prst="roundRect">
            <a:avLst>
              <a:gd fmla="val 8421" name="adj"/>
            </a:avLst>
          </a:prstGeom>
          <a:solidFill>
            <a:srgbClr val="1B2640"/>
          </a:solidFill>
          <a:ln cap="flat" cmpd="sng" w="12700">
            <a:solidFill>
              <a:srgbClr val="3240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3"/>
          <p:cNvSpPr/>
          <p:nvPr/>
        </p:nvSpPr>
        <p:spPr>
          <a:xfrm>
            <a:off x="5522976" y="272491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P5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3"/>
          <p:cNvSpPr/>
          <p:nvPr/>
        </p:nvSpPr>
        <p:spPr>
          <a:xfrm>
            <a:off x="5522976" y="31089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t=5  ·  1 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3"/>
          <p:cNvSpPr/>
          <p:nvPr/>
        </p:nvSpPr>
        <p:spPr>
          <a:xfrm>
            <a:off x="7150608" y="2651760"/>
            <a:ext cx="1463040" cy="868680"/>
          </a:xfrm>
          <a:prstGeom prst="roundRect">
            <a:avLst>
              <a:gd fmla="val 8421" name="adj"/>
            </a:avLst>
          </a:prstGeom>
          <a:solidFill>
            <a:srgbClr val="1B2640"/>
          </a:solidFill>
          <a:ln cap="flat" cmpd="sng" w="12700">
            <a:solidFill>
              <a:srgbClr val="3240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3"/>
          <p:cNvSpPr/>
          <p:nvPr/>
        </p:nvSpPr>
        <p:spPr>
          <a:xfrm>
            <a:off x="7150608" y="272491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P6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3"/>
          <p:cNvSpPr/>
          <p:nvPr/>
        </p:nvSpPr>
        <p:spPr>
          <a:xfrm>
            <a:off x="7150608" y="31089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t=6  ·  2 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3"/>
          <p:cNvSpPr/>
          <p:nvPr/>
        </p:nvSpPr>
        <p:spPr>
          <a:xfrm>
            <a:off x="8778240" y="2651760"/>
            <a:ext cx="1463040" cy="868680"/>
          </a:xfrm>
          <a:prstGeom prst="roundRect">
            <a:avLst>
              <a:gd fmla="val 8421" name="adj"/>
            </a:avLst>
          </a:prstGeom>
          <a:solidFill>
            <a:srgbClr val="1B2640"/>
          </a:solidFill>
          <a:ln cap="flat" cmpd="sng" w="12700">
            <a:solidFill>
              <a:srgbClr val="3240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3"/>
          <p:cNvSpPr/>
          <p:nvPr/>
        </p:nvSpPr>
        <p:spPr>
          <a:xfrm>
            <a:off x="8778240" y="2724912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...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3"/>
          <p:cNvSpPr/>
          <p:nvPr/>
        </p:nvSpPr>
        <p:spPr>
          <a:xfrm>
            <a:off x="640080" y="3749040"/>
            <a:ext cx="10911535" cy="914400"/>
          </a:xfrm>
          <a:prstGeom prst="roundRect">
            <a:avLst>
              <a:gd fmla="val 9000" name="adj"/>
            </a:avLst>
          </a:prstGeom>
          <a:solidFill>
            <a:srgbClr val="3A211D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3"/>
          <p:cNvSpPr/>
          <p:nvPr/>
        </p:nvSpPr>
        <p:spPr>
          <a:xfrm>
            <a:off x="914400" y="3749040"/>
            <a:ext cx="103628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5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6B5B"/>
                </a:solidFill>
                <a:latin typeface="Calibri"/>
                <a:ea typeface="Calibri"/>
                <a:cs typeface="Calibri"/>
                <a:sym typeface="Calibri"/>
              </a:rPr>
              <a:t>P1 (30 ms) — sigue esperando…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3"/>
          <p:cNvSpPr/>
          <p:nvPr/>
        </p:nvSpPr>
        <p:spPr>
          <a:xfrm>
            <a:off x="10682935" y="397764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4" name="Google Shape;41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6379" y="4101084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3"/>
          <p:cNvSpPr/>
          <p:nvPr/>
        </p:nvSpPr>
        <p:spPr>
          <a:xfrm>
            <a:off x="640080" y="4892040"/>
            <a:ext cx="10911535" cy="1143000"/>
          </a:xfrm>
          <a:prstGeom prst="roundRect">
            <a:avLst>
              <a:gd fmla="val 7200" name="adj"/>
            </a:avLst>
          </a:prstGeom>
          <a:solidFill>
            <a:srgbClr val="243154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3"/>
          <p:cNvSpPr/>
          <p:nvPr/>
        </p:nvSpPr>
        <p:spPr>
          <a:xfrm>
            <a:off x="914400" y="5120640"/>
            <a:ext cx="640080" cy="640080"/>
          </a:xfrm>
          <a:prstGeom prst="ellipse">
            <a:avLst/>
          </a:prstGeom>
          <a:solidFill>
            <a:srgbClr val="FF6B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7" name="Google Shape;41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7222" y="5293462"/>
            <a:ext cx="294437" cy="294437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3"/>
          <p:cNvSpPr/>
          <p:nvPr/>
        </p:nvSpPr>
        <p:spPr>
          <a:xfrm>
            <a:off x="1737360" y="4892040"/>
            <a:ext cx="953993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 siguen llegando procesos más cortos, P1 puede no volver a ejecutarse nunca, aunque haya llegado primero. Esto es un caso clásico de starvation.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3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8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7896"/>
                </a:solidFill>
                <a:latin typeface="Calibri"/>
                <a:ea typeface="Calibri"/>
                <a:cs typeface="Calibri"/>
                <a:sym typeface="Calibri"/>
              </a:rPr>
              <a:t>SRTF  ·  Planificación de CPU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3"/>
          <p:cNvSpPr/>
          <p:nvPr/>
        </p:nvSpPr>
        <p:spPr>
          <a:xfrm>
            <a:off x="11094415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896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72A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4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0C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E0C0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4"/>
          <p:cNvSpPr/>
          <p:nvPr/>
        </p:nvSpPr>
        <p:spPr>
          <a:xfrm>
            <a:off x="621792" y="713232"/>
            <a:ext cx="1091153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¿Cómo evitar el Starvation?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4"/>
          <p:cNvSpPr/>
          <p:nvPr/>
        </p:nvSpPr>
        <p:spPr>
          <a:xfrm>
            <a:off x="640080" y="1783080"/>
            <a:ext cx="5212080" cy="4160520"/>
          </a:xfrm>
          <a:prstGeom prst="roundRect">
            <a:avLst>
              <a:gd fmla="val 1978" name="adj"/>
            </a:avLst>
          </a:prstGeom>
          <a:solidFill>
            <a:srgbClr val="1B2640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4"/>
          <p:cNvSpPr/>
          <p:nvPr/>
        </p:nvSpPr>
        <p:spPr>
          <a:xfrm>
            <a:off x="960120" y="2103120"/>
            <a:ext cx="685800" cy="685800"/>
          </a:xfrm>
          <a:prstGeom prst="ellipse">
            <a:avLst/>
          </a:prstGeom>
          <a:solidFill>
            <a:srgbClr val="3A21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0" name="Google Shape;43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5286" y="2288286"/>
            <a:ext cx="315468" cy="315468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24"/>
          <p:cNvSpPr/>
          <p:nvPr/>
        </p:nvSpPr>
        <p:spPr>
          <a:xfrm>
            <a:off x="1828800" y="224028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Aging (Envejecimiento)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4"/>
          <p:cNvSpPr/>
          <p:nvPr/>
        </p:nvSpPr>
        <p:spPr>
          <a:xfrm>
            <a:off x="960120" y="297180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Técnica usada por los sistemas operativos modernos para evitar que un proceso espere indefinidamente.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3" name="Google Shape;433;p24"/>
          <p:cNvCxnSpPr/>
          <p:nvPr/>
        </p:nvCxnSpPr>
        <p:spPr>
          <a:xfrm>
            <a:off x="960120" y="3840480"/>
            <a:ext cx="4572000" cy="0"/>
          </a:xfrm>
          <a:prstGeom prst="straightConnector1">
            <a:avLst/>
          </a:prstGeom>
          <a:noFill/>
          <a:ln cap="flat" cmpd="sng" w="12700">
            <a:solidFill>
              <a:srgbClr val="3240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4" name="Google Shape;434;p24"/>
          <p:cNvSpPr/>
          <p:nvPr/>
        </p:nvSpPr>
        <p:spPr>
          <a:xfrm>
            <a:off x="960120" y="4023360"/>
            <a:ext cx="45720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2F4FA"/>
                </a:solidFill>
                <a:latin typeface="Calibri"/>
                <a:ea typeface="Calibri"/>
                <a:cs typeface="Calibri"/>
                <a:sym typeface="Calibri"/>
              </a:rPr>
              <a:t>Mientras más tiempo espera un proceso, </a:t>
            </a:r>
            <a:r>
              <a:rPr b="1" i="0" lang="en-US" sz="1450" u="none" cap="none" strike="noStrike">
                <a:solidFill>
                  <a:srgbClr val="00E0C0"/>
                </a:solidFill>
                <a:latin typeface="Calibri"/>
                <a:ea typeface="Calibri"/>
                <a:cs typeface="Calibri"/>
                <a:sym typeface="Calibri"/>
              </a:rPr>
              <a:t>mayor prioridad recibe.</a:t>
            </a:r>
            <a:r>
              <a:rPr b="0" i="0" lang="en-US" sz="1450" u="none" cap="none" strike="noStrike">
                <a:solidFill>
                  <a:srgbClr val="F2F4FA"/>
                </a:solidFill>
                <a:latin typeface="Calibri"/>
                <a:ea typeface="Calibri"/>
                <a:cs typeface="Calibri"/>
                <a:sym typeface="Calibri"/>
              </a:rPr>
              <a:t> Con el tiempo, terminará ejecutándose.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4"/>
          <p:cNvSpPr/>
          <p:nvPr/>
        </p:nvSpPr>
        <p:spPr>
          <a:xfrm>
            <a:off x="6053328" y="1783080"/>
            <a:ext cx="5486400" cy="4160520"/>
          </a:xfrm>
          <a:prstGeom prst="roundRect">
            <a:avLst>
              <a:gd fmla="val 1978" name="adj"/>
            </a:avLst>
          </a:prstGeom>
          <a:solidFill>
            <a:srgbClr val="1B2640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4"/>
          <p:cNvSpPr/>
          <p:nvPr/>
        </p:nvSpPr>
        <p:spPr>
          <a:xfrm>
            <a:off x="6355080" y="201168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PRIORIDAD vs. TIEMPO DE ESPERA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4"/>
          <p:cNvSpPr/>
          <p:nvPr/>
        </p:nvSpPr>
        <p:spPr>
          <a:xfrm>
            <a:off x="6492240" y="4937760"/>
            <a:ext cx="548640" cy="457200"/>
          </a:xfrm>
          <a:prstGeom prst="rect">
            <a:avLst/>
          </a:prstGeom>
          <a:solidFill>
            <a:srgbClr val="CFE9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4"/>
          <p:cNvSpPr/>
          <p:nvPr/>
        </p:nvSpPr>
        <p:spPr>
          <a:xfrm>
            <a:off x="7242048" y="4617720"/>
            <a:ext cx="548640" cy="777240"/>
          </a:xfrm>
          <a:prstGeom prst="rect">
            <a:avLst/>
          </a:prstGeom>
          <a:solidFill>
            <a:srgbClr val="CFE9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4"/>
          <p:cNvSpPr/>
          <p:nvPr/>
        </p:nvSpPr>
        <p:spPr>
          <a:xfrm>
            <a:off x="7991856" y="4251960"/>
            <a:ext cx="548640" cy="1143000"/>
          </a:xfrm>
          <a:prstGeom prst="rect">
            <a:avLst/>
          </a:prstGeom>
          <a:solidFill>
            <a:srgbClr val="CFE9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4"/>
          <p:cNvSpPr/>
          <p:nvPr/>
        </p:nvSpPr>
        <p:spPr>
          <a:xfrm>
            <a:off x="8741664" y="3840480"/>
            <a:ext cx="548640" cy="1554480"/>
          </a:xfrm>
          <a:prstGeom prst="rect">
            <a:avLst/>
          </a:prstGeom>
          <a:solidFill>
            <a:srgbClr val="CFE9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4"/>
          <p:cNvSpPr/>
          <p:nvPr/>
        </p:nvSpPr>
        <p:spPr>
          <a:xfrm>
            <a:off x="9491472" y="3383280"/>
            <a:ext cx="548640" cy="2011680"/>
          </a:xfrm>
          <a:prstGeom prst="rect">
            <a:avLst/>
          </a:prstGeom>
          <a:solidFill>
            <a:srgbClr val="CFE9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4"/>
          <p:cNvSpPr/>
          <p:nvPr/>
        </p:nvSpPr>
        <p:spPr>
          <a:xfrm>
            <a:off x="10241280" y="2880360"/>
            <a:ext cx="548640" cy="2514600"/>
          </a:xfrm>
          <a:prstGeom prst="rect">
            <a:avLst/>
          </a:prstGeom>
          <a:solidFill>
            <a:srgbClr val="00E0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3" name="Google Shape;443;p24"/>
          <p:cNvCxnSpPr/>
          <p:nvPr/>
        </p:nvCxnSpPr>
        <p:spPr>
          <a:xfrm>
            <a:off x="6400800" y="5394960"/>
            <a:ext cx="4846320" cy="0"/>
          </a:xfrm>
          <a:prstGeom prst="straightConnector1">
            <a:avLst/>
          </a:prstGeom>
          <a:noFill/>
          <a:ln cap="flat" cmpd="sng" w="15875">
            <a:solidFill>
              <a:srgbClr val="3240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4" name="Google Shape;444;p24"/>
          <p:cNvSpPr/>
          <p:nvPr/>
        </p:nvSpPr>
        <p:spPr>
          <a:xfrm>
            <a:off x="6400800" y="5468112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tiempo de espera →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4"/>
          <p:cNvSpPr/>
          <p:nvPr/>
        </p:nvSpPr>
        <p:spPr>
          <a:xfrm>
            <a:off x="6355080" y="23317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prioridad ↑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4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8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7896"/>
                </a:solidFill>
                <a:latin typeface="Calibri"/>
                <a:ea typeface="Calibri"/>
                <a:cs typeface="Calibri"/>
                <a:sym typeface="Calibri"/>
              </a:rPr>
              <a:t>SRTF  ·  Planificación de CPU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4"/>
          <p:cNvSpPr/>
          <p:nvPr/>
        </p:nvSpPr>
        <p:spPr>
          <a:xfrm>
            <a:off x="11094415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896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72A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5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0C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E0C0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5"/>
          <p:cNvSpPr/>
          <p:nvPr/>
        </p:nvSpPr>
        <p:spPr>
          <a:xfrm>
            <a:off x="621792" y="713232"/>
            <a:ext cx="1091153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Comparación con otros algoritmos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5" name="Google Shape;455;p25"/>
          <p:cNvGraphicFramePr/>
          <p:nvPr/>
        </p:nvGraphicFramePr>
        <p:xfrm>
          <a:off x="1280160" y="1920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{E84239A8-674F-478D-BFEE-9A855FB49194}</a:tableStyleId>
              </a:tblPr>
              <a:tblGrid>
                <a:gridCol w="3200400"/>
                <a:gridCol w="3200400"/>
                <a:gridCol w="3200400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Algoritmo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1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Apropiativo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1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Prioridad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154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4F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F2F4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FCFS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4F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F2F4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4F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F2F4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Orden de llegada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40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4F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F2F4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SJF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4F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F2F4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4F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F2F4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Proceso más corto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C33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E0C0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E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SRTF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38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E0C0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E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38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E0C0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E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Menor tiempo restante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3833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4F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F2F4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Round Robin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4F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F2F4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4F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F2F4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Quantum fijo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C33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4F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F2F4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Priority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4F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F2F4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Puede ser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4F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F2F4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Mayor prioridad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40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40"/>
                    </a:solidFill>
                  </a:tcPr>
                </a:tc>
              </a:tr>
            </a:tbl>
          </a:graphicData>
        </a:graphic>
      </p:graphicFrame>
      <p:sp>
        <p:nvSpPr>
          <p:cNvPr id="456" name="Google Shape;456;p25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8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7896"/>
                </a:solidFill>
                <a:latin typeface="Calibri"/>
                <a:ea typeface="Calibri"/>
                <a:cs typeface="Calibri"/>
                <a:sym typeface="Calibri"/>
              </a:rPr>
              <a:t>SRTF  ·  Planificación de CPU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5"/>
          <p:cNvSpPr/>
          <p:nvPr/>
        </p:nvSpPr>
        <p:spPr>
          <a:xfrm>
            <a:off x="11094415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896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72A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6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0C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E0C0"/>
                </a:solidFill>
                <a:latin typeface="Calibri"/>
                <a:ea typeface="Calibri"/>
                <a:cs typeface="Calibri"/>
                <a:sym typeface="Calibri"/>
              </a:rPr>
              <a:t>APLICACIONES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6"/>
          <p:cNvSpPr/>
          <p:nvPr/>
        </p:nvSpPr>
        <p:spPr>
          <a:xfrm>
            <a:off x="621792" y="713232"/>
            <a:ext cx="1091153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¿Dónde podría utilizarse SRTF?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6"/>
          <p:cNvSpPr/>
          <p:nvPr/>
        </p:nvSpPr>
        <p:spPr>
          <a:xfrm>
            <a:off x="640080" y="1645920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El SRTF puro es poco común en sistemas operativos generales, porque requiere conocer o estimar la duración de cada proceso. Su idea sí se aplica en: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6"/>
          <p:cNvSpPr/>
          <p:nvPr/>
        </p:nvSpPr>
        <p:spPr>
          <a:xfrm>
            <a:off x="640080" y="2423160"/>
            <a:ext cx="2670048" cy="3291840"/>
          </a:xfrm>
          <a:prstGeom prst="roundRect">
            <a:avLst>
              <a:gd fmla="val 3082" name="adj"/>
            </a:avLst>
          </a:prstGeom>
          <a:solidFill>
            <a:srgbClr val="1B2640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6"/>
          <p:cNvSpPr/>
          <p:nvPr/>
        </p:nvSpPr>
        <p:spPr>
          <a:xfrm>
            <a:off x="886968" y="2715768"/>
            <a:ext cx="640080" cy="640080"/>
          </a:xfrm>
          <a:prstGeom prst="ellipse">
            <a:avLst/>
          </a:prstGeom>
          <a:solidFill>
            <a:srgbClr val="153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8" name="Google Shape;46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790" y="2888590"/>
            <a:ext cx="294437" cy="294437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6"/>
          <p:cNvSpPr/>
          <p:nvPr/>
        </p:nvSpPr>
        <p:spPr>
          <a:xfrm>
            <a:off x="886968" y="3520440"/>
            <a:ext cx="22128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Sistemas por lotes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6"/>
          <p:cNvSpPr/>
          <p:nvPr/>
        </p:nvSpPr>
        <p:spPr>
          <a:xfrm>
            <a:off x="886968" y="4050792"/>
            <a:ext cx="221284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Batch systems, donde los trabajos y su duración se conocen de antemano.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6"/>
          <p:cNvSpPr/>
          <p:nvPr/>
        </p:nvSpPr>
        <p:spPr>
          <a:xfrm>
            <a:off x="3493008" y="2423160"/>
            <a:ext cx="2670048" cy="3291840"/>
          </a:xfrm>
          <a:prstGeom prst="roundRect">
            <a:avLst>
              <a:gd fmla="val 3082" name="adj"/>
            </a:avLst>
          </a:prstGeom>
          <a:solidFill>
            <a:srgbClr val="1B2640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6"/>
          <p:cNvSpPr/>
          <p:nvPr/>
        </p:nvSpPr>
        <p:spPr>
          <a:xfrm>
            <a:off x="3739896" y="2715768"/>
            <a:ext cx="640080" cy="640080"/>
          </a:xfrm>
          <a:prstGeom prst="ellipse">
            <a:avLst/>
          </a:prstGeom>
          <a:solidFill>
            <a:srgbClr val="153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3" name="Google Shape;47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12718" y="2888590"/>
            <a:ext cx="294437" cy="294437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26"/>
          <p:cNvSpPr/>
          <p:nvPr/>
        </p:nvSpPr>
        <p:spPr>
          <a:xfrm>
            <a:off x="3739896" y="3520440"/>
            <a:ext cx="22128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Servidores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6"/>
          <p:cNvSpPr/>
          <p:nvPr/>
        </p:nvSpPr>
        <p:spPr>
          <a:xfrm>
            <a:off x="3739896" y="4050792"/>
            <a:ext cx="221284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Planificación de tareas en algunos servidores especializados.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6"/>
          <p:cNvSpPr/>
          <p:nvPr/>
        </p:nvSpPr>
        <p:spPr>
          <a:xfrm>
            <a:off x="6345936" y="2423160"/>
            <a:ext cx="2670048" cy="3291840"/>
          </a:xfrm>
          <a:prstGeom prst="roundRect">
            <a:avLst>
              <a:gd fmla="val 3082" name="adj"/>
            </a:avLst>
          </a:prstGeom>
          <a:solidFill>
            <a:srgbClr val="1B2640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6"/>
          <p:cNvSpPr/>
          <p:nvPr/>
        </p:nvSpPr>
        <p:spPr>
          <a:xfrm>
            <a:off x="6592824" y="2715768"/>
            <a:ext cx="640080" cy="640080"/>
          </a:xfrm>
          <a:prstGeom prst="ellipse">
            <a:avLst/>
          </a:prstGeom>
          <a:solidFill>
            <a:srgbClr val="153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8" name="Google Shape;47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5646" y="2888590"/>
            <a:ext cx="294437" cy="294437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26"/>
          <p:cNvSpPr/>
          <p:nvPr/>
        </p:nvSpPr>
        <p:spPr>
          <a:xfrm>
            <a:off x="6592824" y="3520440"/>
            <a:ext cx="22128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Tiempos estimables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6"/>
          <p:cNvSpPr/>
          <p:nvPr/>
        </p:nvSpPr>
        <p:spPr>
          <a:xfrm>
            <a:off x="6592824" y="4050792"/>
            <a:ext cx="221284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Entornos donde es posible estimar la duración de los trabajos.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6"/>
          <p:cNvSpPr/>
          <p:nvPr/>
        </p:nvSpPr>
        <p:spPr>
          <a:xfrm>
            <a:off x="9198864" y="2423160"/>
            <a:ext cx="2670048" cy="3291840"/>
          </a:xfrm>
          <a:prstGeom prst="roundRect">
            <a:avLst>
              <a:gd fmla="val 3082" name="adj"/>
            </a:avLst>
          </a:prstGeom>
          <a:solidFill>
            <a:srgbClr val="1B2640"/>
          </a:solidFill>
          <a:ln>
            <a:noFill/>
          </a:ln>
          <a:effectLst>
            <a:outerShdw blurRad="127000" rotWithShape="0" algn="bl" dir="5400000" dist="38100">
              <a:srgbClr val="1B264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6"/>
          <p:cNvSpPr/>
          <p:nvPr/>
        </p:nvSpPr>
        <p:spPr>
          <a:xfrm>
            <a:off x="9445752" y="2715768"/>
            <a:ext cx="640080" cy="640080"/>
          </a:xfrm>
          <a:prstGeom prst="ellipse">
            <a:avLst/>
          </a:prstGeom>
          <a:solidFill>
            <a:srgbClr val="153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3" name="Google Shape;483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18574" y="2888590"/>
            <a:ext cx="294437" cy="294437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26"/>
          <p:cNvSpPr/>
          <p:nvPr/>
        </p:nvSpPr>
        <p:spPr>
          <a:xfrm>
            <a:off x="9445752" y="3520440"/>
            <a:ext cx="22128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4FA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2F4FA"/>
                </a:solidFill>
                <a:latin typeface="Cambria"/>
                <a:ea typeface="Cambria"/>
                <a:cs typeface="Cambria"/>
                <a:sym typeface="Cambria"/>
              </a:rPr>
              <a:t>Base teórica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6"/>
          <p:cNvSpPr/>
          <p:nvPr/>
        </p:nvSpPr>
        <p:spPr>
          <a:xfrm>
            <a:off x="9445752" y="4050792"/>
            <a:ext cx="221284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4CC"/>
                </a:solidFill>
                <a:latin typeface="Calibri"/>
                <a:ea typeface="Calibri"/>
                <a:cs typeface="Calibri"/>
                <a:sym typeface="Calibri"/>
              </a:rPr>
              <a:t>Punto de partida para diseñar planificadores más avanzados.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6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8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7896"/>
                </a:solidFill>
                <a:latin typeface="Calibri"/>
                <a:ea typeface="Calibri"/>
                <a:cs typeface="Calibri"/>
                <a:sym typeface="Calibri"/>
              </a:rPr>
              <a:t>SRTF  ·  Planificación de CPU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6"/>
          <p:cNvSpPr/>
          <p:nvPr/>
        </p:nvSpPr>
        <p:spPr>
          <a:xfrm>
            <a:off x="11094415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896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72A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1297"/>
            <a:ext cx="12191999" cy="6909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69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3275" y="152400"/>
            <a:ext cx="6513000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37275"/>
            <a:ext cx="12192000" cy="358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Google Shape;51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525" y="1671075"/>
            <a:ext cx="11200950" cy="383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